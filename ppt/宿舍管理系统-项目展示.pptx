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84367" y="169164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647" y="269748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91C1D"/>
                </a:solidFill>
                <a:latin typeface="Microsoft YaHei"/>
              </a:defRPr>
            </a:pPr>
            <a:r>
              <a:t>宿舍管理系统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647" y="329184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14755"/>
                </a:solidFill>
                <a:latin typeface="Microsoft YaHei"/>
              </a:defRPr>
            </a:pPr>
            <a:r>
              <a:t>基于 SSM 框架的智能宿舍管理与 AI 推荐平台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4998567" y="3840480"/>
            <a:ext cx="2194560" cy="18288"/>
          </a:xfrm>
          <a:prstGeom prst="rect">
            <a:avLst/>
          </a:prstGeom>
          <a:solidFill>
            <a:srgbClr val="C1C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7695" y="4069080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Spring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4743" y="406908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Spring MVC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7823" y="4069080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MyBatis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16855" y="4069080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MySQL 8.0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1919" y="406908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DeepSeek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83014" y="4069080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ECharts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82046" y="4069080"/>
            <a:ext cx="1901952" cy="292608"/>
          </a:xfrm>
          <a:prstGeom prst="roundRect">
            <a:avLst>
              <a:gd name="adj" fmla="val 5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Tailwind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17786"/>
                </a:solidFill>
                <a:latin typeface="Microsoft YaHei"/>
              </a:defRPr>
            </a:pPr>
            <a:r>
              <a:t>2026 · 毕业设计项目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7786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4864" cy="50292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83464"/>
            <a:ext cx="9893808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91C1D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85800"/>
            <a:ext cx="98938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2120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280160"/>
            <a:ext cx="45720" cy="201168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61872"/>
            <a:ext cx="4892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4892040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414755"/>
                </a:solidFill>
                <a:latin typeface="Microsoft YaHei"/>
              </a:defRPr>
            </a:pPr>
            <a:r>
              <a:t>高校宿舍管理面临学生信息分散、调换审批繁琐、报修跟踪困难等问题。</a:t>
            </a:r>
          </a:p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414755"/>
                </a:solidFill>
                <a:latin typeface="Microsoft YaHei"/>
              </a:defRPr>
            </a:pPr>
            <a:r>
              <a:t>传统人工管理方式效率低、易出错，亟需数字化系统提升管理效能。</a:t>
            </a:r>
          </a:p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414755"/>
                </a:solidFill>
                <a:latin typeface="Microsoft YaHei"/>
              </a:defRPr>
            </a:pPr>
            <a:r>
              <a:t>结合 AI 技术实现智能宿舍推荐与客服，为管理者提供数据驱动的决策支持。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88720"/>
            <a:ext cx="5212080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7648" y="1280160"/>
            <a:ext cx="45720" cy="2011680"/>
          </a:xfrm>
          <a:prstGeom prst="rect">
            <a:avLst/>
          </a:prstGeom>
          <a:solidFill>
            <a:srgbClr val="006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4892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00200"/>
            <a:ext cx="4892040" cy="1691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414755"/>
                </a:solidFill>
                <a:latin typeface="Microsoft YaHei"/>
              </a:defRPr>
            </a:pPr>
            <a:r>
              <a:t>构建一套完整的宿舍管理数字化平台，覆盖学生入住、调换、报修全流程。</a:t>
            </a:r>
          </a:p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414755"/>
                </a:solidFill>
                <a:latin typeface="Microsoft YaHei"/>
              </a:defRPr>
            </a:pPr>
            <a:r>
              <a:t>实现双角色权限体系：管理员进行全局管理，学生自助办理宿舍相关业务。</a:t>
            </a:r>
          </a:p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414755"/>
                </a:solidFill>
                <a:latin typeface="Microsoft YaHei"/>
              </a:defRPr>
            </a:pPr>
            <a:r>
              <a:t>引入 DeepSeek AI 大模型，提供智能宿舍匹配推荐与 24×7 在线客服。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91C1D"/>
                </a:solidFill>
                <a:latin typeface="Microsoft YaHei"/>
              </a:defRPr>
            </a:pPr>
            <a:r>
              <a:t>系统特性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260604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4297680"/>
            <a:ext cx="365760" cy="36576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Inter"/>
              </a:defRPr>
            </a:pPr>
            <a:r>
              <a:t>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27939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1C1D"/>
                </a:solidFill>
                <a:latin typeface="Microsoft YaHei"/>
              </a:defRPr>
            </a:pPr>
            <a:r>
              <a:t>双角色权限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75488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Admin / Student</a:t>
            </a:r>
            <a:br/>
            <a:r>
              <a:t>精细化权限控制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10712" y="4114800"/>
            <a:ext cx="260604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47872" y="4297680"/>
            <a:ext cx="365760" cy="36576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42976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Inter"/>
              </a:defRPr>
            </a:pPr>
            <a:r>
              <a:t>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32504" y="427939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1C1D"/>
                </a:solidFill>
                <a:latin typeface="Microsoft YaHei"/>
              </a:defRPr>
            </a:pPr>
            <a:r>
              <a:t>生活习惯问卷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2504" y="475488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六维生活习惯采集</a:t>
            </a:r>
            <a:br/>
            <a:r>
              <a:t>科学匹配依据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1344" y="4114800"/>
            <a:ext cx="260604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18504" y="4297680"/>
            <a:ext cx="365760" cy="36576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4" y="42976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Inter"/>
              </a:defRPr>
            </a:pPr>
            <a:r>
              <a:t>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6" y="427939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1C1D"/>
                </a:solidFill>
                <a:latin typeface="Microsoft YaHei"/>
              </a:defRPr>
            </a:pPr>
            <a:r>
              <a:t>AI 智能推荐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475488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DeepSeek 大模型驱动</a:t>
            </a:r>
            <a:br/>
            <a:r>
              <a:t>最优宿舍匹配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1976" y="4114800"/>
            <a:ext cx="260604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089136" y="4297680"/>
            <a:ext cx="365760" cy="36576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89136" y="429768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Inter"/>
              </a:defRPr>
            </a:pPr>
            <a:r>
              <a:t>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8" y="427939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1C1D"/>
                </a:solidFill>
                <a:latin typeface="Microsoft YaHei"/>
              </a:defRPr>
            </a:pPr>
            <a:r>
              <a:t>数据可视化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73768" y="475488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ECharts 雷达图</a:t>
            </a:r>
            <a:br/>
            <a:r>
              <a:t>六维匹配分析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778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4864" cy="50292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83464"/>
            <a:ext cx="9893808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91C1D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85800"/>
            <a:ext cx="98938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38447" y="1143000"/>
            <a:ext cx="41148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21327" y="1216152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8BC"/>
                </a:solidFill>
                <a:latin typeface="Microsoft YaHei"/>
              </a:defRPr>
            </a:pPr>
            <a:r>
              <a:t>表现层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1327" y="149047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10047" y="1252728"/>
            <a:ext cx="25603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JSP + Tailwind CSS + ECharts</a:t>
            </a:r>
            <a:br/>
            <a:r>
              <a:t>Material Design 3 设计语言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.5" y="1801368"/>
            <a:ext cx="0.0" cy="73152"/>
          </a:xfrm>
          <a:prstGeom prst="line">
            <a:avLst/>
          </a:prstGeom>
          <a:ln w="19050">
            <a:solidFill>
              <a:srgbClr val="C1C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38447" y="1874520"/>
            <a:ext cx="41148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21327" y="1947672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控制层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1327" y="222199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5410047" y="1984248"/>
            <a:ext cx="25603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Spring MVC DispatcherServlet</a:t>
            </a:r>
            <a:br/>
            <a:r>
              <a:t>RESTful 风格路由，拦截器校验权限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.5" y="2532888"/>
            <a:ext cx="0.0" cy="73152"/>
          </a:xfrm>
          <a:prstGeom prst="line">
            <a:avLst/>
          </a:prstGeom>
          <a:ln w="19050">
            <a:solidFill>
              <a:srgbClr val="C1C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038447" y="2606040"/>
            <a:ext cx="41148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1327" y="2679192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业务层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1327" y="295351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5410047" y="2715768"/>
            <a:ext cx="25603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Spring IoC + AOP 事务管理</a:t>
            </a:r>
            <a:br/>
            <a:r>
              <a:t>8 个 Service 接口，模块化设计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5847.5" y="3264408"/>
            <a:ext cx="0.0" cy="73152"/>
          </a:xfrm>
          <a:prstGeom prst="line">
            <a:avLst/>
          </a:prstGeom>
          <a:ln w="19050">
            <a:solidFill>
              <a:srgbClr val="C1C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038447" y="3337560"/>
            <a:ext cx="41148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1327" y="3410712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持久层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1327" y="368503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410047" y="3447288"/>
            <a:ext cx="25603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MyBatis + Druid 连接池</a:t>
            </a:r>
            <a:br/>
            <a:r>
              <a:t>7 个 Mapper 接口 + XML 映射文件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5847.5" y="3995928"/>
            <a:ext cx="0.0" cy="73152"/>
          </a:xfrm>
          <a:prstGeom prst="line">
            <a:avLst/>
          </a:prstGeom>
          <a:ln w="19050">
            <a:solidFill>
              <a:srgbClr val="C1C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038447" y="4069080"/>
            <a:ext cx="41148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21327" y="4142232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1327" y="4416552"/>
            <a:ext cx="1097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5410047" y="4178808"/>
            <a:ext cx="25603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MySQL 8.0 关系型数据库</a:t>
            </a:r>
            <a:br/>
            <a:r>
              <a:t>7 张业务表，完整外键约束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35327" y="1874520"/>
            <a:ext cx="173736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72487" y="196596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677D"/>
                </a:solidFill>
                <a:latin typeface="Microsoft YaHei"/>
              </a:defRPr>
            </a:pPr>
            <a:r>
              <a:t>DeepSeek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72487" y="2286000"/>
            <a:ext cx="14630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智能宿舍推荐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AI 客服聊天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Apache HttpClient 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72687.5" y="2560320"/>
            <a:ext cx="365760.0" cy="0"/>
          </a:xfrm>
          <a:prstGeom prst="line">
            <a:avLst/>
          </a:prstGeom>
          <a:ln w="19050">
            <a:solidFill>
              <a:srgbClr val="0067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610447" y="1143000"/>
            <a:ext cx="237744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28735" y="1234440"/>
            <a:ext cx="45720" cy="457200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93327" y="1216152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1C1D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93327" y="1554480"/>
            <a:ext cx="2057400" cy="4251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JSP + JSTL 3.0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Tailwind CSS CDN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Material Symbols 图标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ECharts 5.5 图表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125047" y="1143000"/>
            <a:ext cx="237744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143335" y="1234440"/>
            <a:ext cx="45720" cy="4572000"/>
          </a:xfrm>
          <a:prstGeom prst="rect">
            <a:avLst/>
          </a:prstGeom>
          <a:solidFill>
            <a:srgbClr val="191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307927" y="1216152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1C1D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07927" y="1554480"/>
            <a:ext cx="2057400" cy="4251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Spring 6.1.3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Spring MVC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MyBatis 3.5.16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Druid 连接池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Commons FileUpload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639647" y="1143000"/>
            <a:ext cx="2377440" cy="4754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3657935" y="1234440"/>
            <a:ext cx="45720" cy="4572000"/>
          </a:xfrm>
          <a:prstGeom prst="rect">
            <a:avLst/>
          </a:prstGeom>
          <a:solidFill>
            <a:srgbClr val="006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822527" y="1216152"/>
            <a:ext cx="2057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1C1D"/>
                </a:solidFill>
                <a:latin typeface="Microsoft YaHei"/>
              </a:defRPr>
            </a:pPr>
            <a:r>
              <a:t>数据 &amp;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22527" y="1554480"/>
            <a:ext cx="2057400" cy="4251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MySQL 8.0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DeepSeek Chat API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FastJSON 2.0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Log4j 日志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Maven 构建</a:t>
            </a:r>
          </a:p>
          <a:p>
            <a:pPr algn="l">
              <a:lnSpc>
                <a:spcPts val="15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Tomcat 部署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7786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4864" cy="50292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83464"/>
            <a:ext cx="9893808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91C1D"/>
                </a:solidFill>
                <a:latin typeface="Microsoft YaHei"/>
              </a:defRPr>
            </a:pPr>
            <a:r>
              <a:t>系统功能模块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85800"/>
            <a:ext cx="98938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303520" cy="4663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143000"/>
            <a:ext cx="45720" cy="448056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24712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1C1D"/>
                </a:solidFill>
                <a:latin typeface="Microsoft YaHei"/>
              </a:defRPr>
            </a:pPr>
            <a:r>
              <a:t>管理员端功能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983480" cy="416052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58BC"/>
                </a:solidFill>
                <a:latin typeface="Inter"/>
              </a:defRPr>
            </a:pPr>
            <a:r>
              <a:t>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53619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仪表盘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75564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数据概览与最近动态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55448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58BC"/>
                </a:solidFill>
                <a:latin typeface="Inter"/>
              </a:defRPr>
            </a:pPr>
            <a:r>
              <a:t>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153619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学生管理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75564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学生信息查看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1488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58BC"/>
                </a:solidFill>
                <a:latin typeface="Inter"/>
              </a:defRPr>
            </a:pPr>
            <a:r>
              <a:t>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13055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宿舍管理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35000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宿舍楼栋增删改查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1488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58BC"/>
                </a:solidFill>
                <a:latin typeface="Inter"/>
              </a:defRPr>
            </a:pPr>
            <a:r>
              <a:t>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13055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习惯问卷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235000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查看学生生活习惯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74320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58BC"/>
                </a:solidFill>
                <a:latin typeface="Inter"/>
              </a:defRPr>
            </a:pPr>
            <a:r>
              <a:t>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72491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分配管理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294436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手动分配宿舍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274320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58BC"/>
                </a:solidFill>
                <a:latin typeface="Inter"/>
              </a:defRPr>
            </a:pPr>
            <a:r>
              <a:t>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272491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调换审批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294436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审核调换申请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33756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58BC"/>
                </a:solidFill>
                <a:latin typeface="Inter"/>
              </a:defRPr>
            </a:pPr>
            <a:r>
              <a:t>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31927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报修处理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53872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处理维修工单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33756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58BC"/>
                </a:solidFill>
                <a:latin typeface="Inter"/>
              </a:defRPr>
            </a:pPr>
            <a:r>
              <a:t>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331927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AI 推荐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353872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智能宿舍匹配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1051560"/>
            <a:ext cx="5303520" cy="4663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81928" y="1143000"/>
            <a:ext cx="45720" cy="4480560"/>
          </a:xfrm>
          <a:prstGeom prst="rect">
            <a:avLst/>
          </a:prstGeom>
          <a:solidFill>
            <a:srgbClr val="006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1124712"/>
            <a:ext cx="4983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1C1D"/>
                </a:solidFill>
                <a:latin typeface="Microsoft YaHei"/>
              </a:defRPr>
            </a:pPr>
            <a:r>
              <a:t>学生端功能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1463040"/>
            <a:ext cx="4983480" cy="416052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92240" y="155448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677D"/>
                </a:solidFill>
                <a:latin typeface="Inter"/>
              </a:defRPr>
            </a:pPr>
            <a:r>
              <a:t>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153619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个人仪表盘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175564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住宿状态一览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155448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677D"/>
                </a:solidFill>
                <a:latin typeface="Inter"/>
              </a:defRPr>
            </a:pPr>
            <a:r>
              <a:t>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153619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个人信息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175564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查看学籍信息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1488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677D"/>
                </a:solidFill>
                <a:latin typeface="Inter"/>
              </a:defRPr>
            </a:pPr>
            <a:r>
              <a:t>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213055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习惯问卷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235000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填写生活习惯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214884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677D"/>
                </a:solidFill>
                <a:latin typeface="Inter"/>
              </a:defRPr>
            </a:pPr>
            <a:r>
              <a:t>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213055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宿舍分配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235000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查看分配结果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74320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677D"/>
                </a:solidFill>
                <a:latin typeface="Inter"/>
              </a:defRPr>
            </a:pPr>
            <a:r>
              <a:t>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272491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调换申请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294436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提交调换请求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274320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677D"/>
                </a:solidFill>
                <a:latin typeface="Inter"/>
              </a:defRPr>
            </a:pPr>
            <a:r>
              <a:t>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272491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报修申请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294436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提交维修工单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333756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677D"/>
                </a:solidFill>
                <a:latin typeface="Inter"/>
              </a:defRPr>
            </a:pPr>
            <a:r>
              <a:t>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331927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AI 客服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353872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24×7 智能问答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6840" y="3337560"/>
            <a:ext cx="320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677D"/>
                </a:solidFill>
                <a:latin typeface="Inter"/>
              </a:defRPr>
            </a:pPr>
            <a:r>
              <a:t>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72600" y="3319272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91C1D"/>
                </a:solidFill>
                <a:latin typeface="Microsoft YaHei"/>
              </a:defRPr>
            </a:pPr>
            <a:r>
              <a:t>个人设置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3538728"/>
            <a:ext cx="1737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密码修改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" y="5943600"/>
            <a:ext cx="10881360" cy="457200"/>
          </a:xfrm>
          <a:prstGeom prst="roundRect">
            <a:avLst>
              <a:gd name="adj" fmla="val 1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系统共包含 7 张数据库表，支持 Admin / Student 双角色权限体系，覆盖宿舍管理全业务流程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7786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4864" cy="50292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83464"/>
            <a:ext cx="9893808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91C1D"/>
                </a:solidFill>
                <a:latin typeface="Microsoft YaHei"/>
              </a:defRPr>
            </a:pPr>
            <a:r>
              <a:t>管理员核心功能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85800"/>
            <a:ext cx="98938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Admin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38328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188720"/>
            <a:ext cx="45720" cy="182880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70432"/>
            <a:ext cx="3063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学生管理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306324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查看全部学生信息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查看学生生活习惯问卷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查看学生宿舍分配详情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1887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1C6D7"/>
                </a:solidFill>
                <a:latin typeface="Inter"/>
              </a:defRPr>
            </a:pPr>
            <a:r>
              <a:t>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097280"/>
            <a:ext cx="338328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188720"/>
            <a:ext cx="45720" cy="182880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170432"/>
            <a:ext cx="3063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宿舍管理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508760"/>
            <a:ext cx="306324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宿舍楼栋增删改查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宿舍容量与入住管理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按楼栋 / 类型筛选查看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1887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1C6D7"/>
                </a:solidFill>
                <a:latin typeface="Inter"/>
              </a:defRPr>
            </a:pPr>
            <a:r>
              <a:t>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097280"/>
            <a:ext cx="338328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2128" y="1188720"/>
            <a:ext cx="45720" cy="182880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170432"/>
            <a:ext cx="3063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审批中心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508760"/>
            <a:ext cx="306324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调换宿舍申请审批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报修工单处理流转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支持通过 / 拒绝 / 删除操作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188720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1C6D7"/>
                </a:solidFill>
                <a:latin typeface="Inter"/>
              </a:defRPr>
            </a:pPr>
            <a:r>
              <a:t>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38328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91C1D"/>
                </a:solidFill>
                <a:latin typeface="Microsoft YaHei"/>
              </a:defRPr>
            </a:pPr>
            <a:r>
              <a:t>宿舍调换审批流程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63040" y="3703320"/>
            <a:ext cx="365760" cy="36576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1C1D"/>
                </a:solidFill>
                <a:latin typeface="Microsoft YaHei"/>
              </a:defRPr>
            </a:pPr>
            <a:r>
              <a:t>学生提交</a:t>
            </a:r>
            <a:br/>
            <a:r>
              <a:t>调换申请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670048" y="4206240"/>
            <a:ext cx="146304" cy="201168"/>
          </a:xfrm>
          <a:prstGeom prst="rightArrow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16352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39312" y="3703320"/>
            <a:ext cx="365760" cy="36576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41148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1C1D"/>
                </a:solidFill>
                <a:latin typeface="Microsoft YaHei"/>
              </a:defRPr>
            </a:pPr>
            <a:r>
              <a:t>管理员</a:t>
            </a:r>
            <a:br/>
            <a:r>
              <a:t>审核材料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846320" y="4206240"/>
            <a:ext cx="146304" cy="201168"/>
          </a:xfrm>
          <a:prstGeom prst="rightArrow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92624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15584" y="3703320"/>
            <a:ext cx="365760" cy="36576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92624" y="41148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1C1D"/>
                </a:solidFill>
                <a:latin typeface="Microsoft YaHei"/>
              </a:defRPr>
            </a:pPr>
            <a:r>
              <a:t>查看目标</a:t>
            </a:r>
            <a:br/>
            <a:r>
              <a:t>宿舍信息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022592" y="4206240"/>
            <a:ext cx="146304" cy="201168"/>
          </a:xfrm>
          <a:prstGeom prst="rightArrow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68896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991856" y="3703320"/>
            <a:ext cx="365760" cy="36576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8896" y="41148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1C1D"/>
                </a:solidFill>
                <a:latin typeface="Microsoft YaHei"/>
              </a:defRPr>
            </a:pPr>
            <a:r>
              <a:t>通过 / 拒绝</a:t>
            </a:r>
            <a:br/>
            <a:r>
              <a:t>填写意见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198864" y="4206240"/>
            <a:ext cx="146304" cy="201168"/>
          </a:xfrm>
          <a:prstGeom prst="rightArrow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45168" y="3840480"/>
            <a:ext cx="20116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68128" y="3703320"/>
            <a:ext cx="365760" cy="36576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8" y="4114800"/>
            <a:ext cx="20116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1C1D"/>
                </a:solidFill>
                <a:latin typeface="Microsoft YaHei"/>
              </a:defRPr>
            </a:pPr>
            <a:r>
              <a:t>通知学生</a:t>
            </a:r>
            <a:br/>
            <a:r>
              <a:t>完成调换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029200"/>
            <a:ext cx="10881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仪表盘实时统计：学生总数 | 入住率 | 待分配人数 | 待处理报修 | 最近活动动态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7786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4864" cy="50292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83464"/>
            <a:ext cx="9893808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91C1D"/>
                </a:solidFill>
                <a:latin typeface="Microsoft YaHei"/>
              </a:defRPr>
            </a:pPr>
            <a:r>
              <a:t>学生核心功能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85800"/>
            <a:ext cx="98938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Student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21208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143000"/>
            <a:ext cx="45720" cy="2148840"/>
          </a:xfrm>
          <a:prstGeom prst="rect">
            <a:avLst/>
          </a:prstGeom>
          <a:solidFill>
            <a:srgbClr val="006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24712"/>
            <a:ext cx="4892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生活习惯问卷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892040" cy="182880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74920" y="123444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C1C6D7"/>
                </a:solidFill>
                <a:latin typeface="Inter"/>
              </a:defRPr>
            </a:pPr>
            <a:r>
              <a:t>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489204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填写六维生活习惯信息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睡眠时间 / 起床时间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吸烟 / 饮酒习惯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噪音容忍度 / 清洁习惯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051560"/>
            <a:ext cx="521208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143000"/>
            <a:ext cx="45720" cy="214884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124712"/>
            <a:ext cx="4892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宿舍分配查看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40"/>
            <a:ext cx="4892040" cy="182880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607040" y="123444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C1C6D7"/>
                </a:solidFill>
                <a:latin typeface="Inter"/>
              </a:defRPr>
            </a:pPr>
            <a:r>
              <a:t>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489204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查看已分配的宿舍信息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宿舍号 / 楼栋 / 房型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入住状态实时更新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支持查看同住室友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521208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703320"/>
            <a:ext cx="45720" cy="2148840"/>
          </a:xfrm>
          <a:prstGeom prst="rect">
            <a:avLst/>
          </a:prstGeom>
          <a:solidFill>
            <a:srgbClr val="006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85032"/>
            <a:ext cx="4892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报修与调换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23360"/>
            <a:ext cx="4892040" cy="182880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74920" y="37947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C1C6D7"/>
                </a:solidFill>
                <a:latin typeface="Inter"/>
              </a:defRPr>
            </a:pPr>
            <a:r>
              <a:t>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14800"/>
            <a:ext cx="489204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在线提交维修报修申请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支持图片上传附件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在线提交宿舍调换请求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实时追踪处理进度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611880"/>
            <a:ext cx="521208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703320"/>
            <a:ext cx="45720" cy="214884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685032"/>
            <a:ext cx="4892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AI 智能客服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023360"/>
            <a:ext cx="4892040" cy="182880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607040" y="37947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C1C6D7"/>
                </a:solidFill>
                <a:latin typeface="Inter"/>
              </a:defRPr>
            </a:pPr>
            <a:r>
              <a:t>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14800"/>
            <a:ext cx="489204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24×7 在线智能问答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DeepSeek 大模型驱动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宿舍相关业务咨询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对话历史持久保存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7786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4864" cy="50292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83464"/>
            <a:ext cx="9893808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91C1D"/>
                </a:solidFill>
                <a:latin typeface="Microsoft YaHei"/>
              </a:defRPr>
            </a:pPr>
            <a:r>
              <a:t>AI 智能推荐系统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85800"/>
            <a:ext cx="98938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DeepSeek-Powered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推荐流程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1600200"/>
            <a:ext cx="347472" cy="347472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27048"/>
            <a:ext cx="1371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1C1D"/>
                </a:solidFill>
                <a:latin typeface="Microsoft YaHei"/>
              </a:defRPr>
            </a:pPr>
            <a:r>
              <a:t>选择学生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01368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管理员输入目标</a:t>
            </a:r>
            <a:br/>
            <a:r>
              <a:t>学生学号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50976" y="2377440"/>
            <a:ext cx="0" cy="36576"/>
          </a:xfrm>
          <a:prstGeom prst="line">
            <a:avLst/>
          </a:prstGeom>
          <a:ln w="19050">
            <a:solidFill>
              <a:srgbClr val="C1C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77240" y="2542032"/>
            <a:ext cx="347472" cy="347472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68880"/>
            <a:ext cx="1371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1C1D"/>
                </a:solidFill>
                <a:latin typeface="Microsoft YaHei"/>
              </a:defRPr>
            </a:pPr>
            <a:r>
              <a:t>采集数据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43200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系统自动收集学生</a:t>
            </a:r>
            <a:br/>
            <a:r>
              <a:t>习惯问卷 + 宿舍信息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0976" y="3319272"/>
            <a:ext cx="0" cy="36576"/>
          </a:xfrm>
          <a:prstGeom prst="line">
            <a:avLst/>
          </a:prstGeom>
          <a:ln w="19050">
            <a:solidFill>
              <a:srgbClr val="C1C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7240" y="3483864"/>
            <a:ext cx="347472" cy="347472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10712"/>
            <a:ext cx="1371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1C1D"/>
                </a:solidFill>
                <a:latin typeface="Microsoft YaHei"/>
              </a:defRPr>
            </a:pPr>
            <a:r>
              <a:t>构建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85032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组装六维匹配参数</a:t>
            </a:r>
            <a:br/>
            <a:r>
              <a:t>发送至 DeepSeek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50976" y="4261104"/>
            <a:ext cx="0" cy="36576"/>
          </a:xfrm>
          <a:prstGeom prst="line">
            <a:avLst/>
          </a:prstGeom>
          <a:ln w="19050">
            <a:solidFill>
              <a:srgbClr val="C1C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77240" y="4425696"/>
            <a:ext cx="347472" cy="347472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52544"/>
            <a:ext cx="1371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1C1D"/>
                </a:solidFill>
                <a:latin typeface="Microsoft YaHei"/>
              </a:defRPr>
            </a:pPr>
            <a:r>
              <a:t>解析结果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26864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提取 [SCORES] 标签</a:t>
            </a:r>
            <a:br/>
            <a:r>
              <a:t>解析六维评分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50976" y="5202936"/>
            <a:ext cx="0" cy="36576"/>
          </a:xfrm>
          <a:prstGeom prst="line">
            <a:avLst/>
          </a:prstGeom>
          <a:ln w="19050">
            <a:solidFill>
              <a:srgbClr val="C1C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77240" y="5367528"/>
            <a:ext cx="347472" cy="347472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94376"/>
            <a:ext cx="1371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91C1D"/>
                </a:solidFill>
                <a:latin typeface="Microsoft YaHei"/>
              </a:defRPr>
            </a:pPr>
            <a:r>
              <a:t>展示推荐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568696"/>
            <a:ext cx="22860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推荐文本 + ECharts</a:t>
            </a:r>
            <a:br/>
            <a:r>
              <a:t>雷达图可视化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105156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六维匹配维度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1508760"/>
            <a:ext cx="2286000" cy="320040"/>
          </a:xfrm>
          <a:prstGeom prst="roundRect">
            <a:avLst>
              <a:gd name="adj" fmla="val 10000"/>
            </a:avLst>
          </a:prstGeom>
          <a:solidFill>
            <a:srgbClr val="ED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14800" y="1508760"/>
            <a:ext cx="1943100" cy="320040"/>
          </a:xfrm>
          <a:prstGeom prst="roundRect">
            <a:avLst>
              <a:gd name="adj" fmla="val 1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24528" y="152704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睡眠时间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80" y="152704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1984248"/>
            <a:ext cx="2286000" cy="320040"/>
          </a:xfrm>
          <a:prstGeom prst="roundRect">
            <a:avLst>
              <a:gd name="adj" fmla="val 10000"/>
            </a:avLst>
          </a:prstGeom>
          <a:solidFill>
            <a:srgbClr val="ED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14800" y="1984248"/>
            <a:ext cx="1783080" cy="320040"/>
          </a:xfrm>
          <a:prstGeom prst="roundRect">
            <a:avLst>
              <a:gd name="adj" fmla="val 1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4528" y="2002536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起床时间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2002536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78%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0" y="2459736"/>
            <a:ext cx="2286000" cy="320040"/>
          </a:xfrm>
          <a:prstGeom prst="roundRect">
            <a:avLst>
              <a:gd name="adj" fmla="val 10000"/>
            </a:avLst>
          </a:prstGeom>
          <a:solidFill>
            <a:srgbClr val="ED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14800" y="2459736"/>
            <a:ext cx="2103120" cy="320040"/>
          </a:xfrm>
          <a:prstGeom prst="roundRect">
            <a:avLst>
              <a:gd name="adj" fmla="val 1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24528" y="2478024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吸烟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2478024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92%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0" y="2935224"/>
            <a:ext cx="2286000" cy="320040"/>
          </a:xfrm>
          <a:prstGeom prst="roundRect">
            <a:avLst>
              <a:gd name="adj" fmla="val 10000"/>
            </a:avLst>
          </a:prstGeom>
          <a:solidFill>
            <a:srgbClr val="ED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114800" y="2935224"/>
            <a:ext cx="2011680" cy="320040"/>
          </a:xfrm>
          <a:prstGeom prst="roundRect">
            <a:avLst>
              <a:gd name="adj" fmla="val 1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24528" y="2953512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饮酒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12080" y="2953512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0" y="3410712"/>
            <a:ext cx="2286000" cy="320040"/>
          </a:xfrm>
          <a:prstGeom prst="roundRect">
            <a:avLst>
              <a:gd name="adj" fmla="val 10000"/>
            </a:avLst>
          </a:prstGeom>
          <a:solidFill>
            <a:srgbClr val="ED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14800" y="3410712"/>
            <a:ext cx="1714500" cy="320040"/>
          </a:xfrm>
          <a:prstGeom prst="roundRect">
            <a:avLst>
              <a:gd name="adj" fmla="val 1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24528" y="342900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噪音容忍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12080" y="3429000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75%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0" y="3886200"/>
            <a:ext cx="2286000" cy="320040"/>
          </a:xfrm>
          <a:prstGeom prst="roundRect">
            <a:avLst>
              <a:gd name="adj" fmla="val 10000"/>
            </a:avLst>
          </a:prstGeom>
          <a:solidFill>
            <a:srgbClr val="ED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14800" y="3886200"/>
            <a:ext cx="1828800" cy="320040"/>
          </a:xfrm>
          <a:prstGeom prst="roundRect">
            <a:avLst>
              <a:gd name="adj" fmla="val 10000"/>
            </a:avLst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24528" y="3904488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清洁习惯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12080" y="3904488"/>
            <a:ext cx="1097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80%</a:t>
            </a:r>
          </a:p>
        </p:txBody>
      </p:sp>
      <p:sp>
        <p:nvSpPr>
          <p:cNvPr id="51" name="Hexagon 50"/>
          <p:cNvSpPr/>
          <p:nvPr/>
        </p:nvSpPr>
        <p:spPr>
          <a:xfrm>
            <a:off x="7132320" y="1371600"/>
            <a:ext cx="3200400" cy="3200400"/>
          </a:xfrm>
          <a:prstGeom prst="hexagon">
            <a:avLst/>
          </a:prstGeom>
          <a:solidFill>
            <a:srgbClr val="EDEEE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exagon 51"/>
          <p:cNvSpPr/>
          <p:nvPr/>
        </p:nvSpPr>
        <p:spPr>
          <a:xfrm>
            <a:off x="7772400" y="2011680"/>
            <a:ext cx="1920240" cy="1920240"/>
          </a:xfrm>
          <a:prstGeom prst="hexagon">
            <a:avLst/>
          </a:prstGeom>
          <a:solidFill>
            <a:srgbClr val="D8E2FF"/>
          </a:solidFill>
          <a:ln w="19050">
            <a:solidFill>
              <a:srgbClr val="005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641080" y="1792224"/>
            <a:ext cx="182880" cy="18288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132588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睡眠</a:t>
            </a:r>
          </a:p>
        </p:txBody>
      </p:sp>
      <p:sp>
        <p:nvSpPr>
          <p:cNvPr id="55" name="Oval 54"/>
          <p:cNvSpPr/>
          <p:nvPr/>
        </p:nvSpPr>
        <p:spPr>
          <a:xfrm>
            <a:off x="9505827" y="2381098"/>
            <a:ext cx="182880" cy="18288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19104" y="208026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起床</a:t>
            </a:r>
          </a:p>
        </p:txBody>
      </p:sp>
      <p:sp>
        <p:nvSpPr>
          <p:cNvPr id="57" name="Oval 56"/>
          <p:cNvSpPr/>
          <p:nvPr/>
        </p:nvSpPr>
        <p:spPr>
          <a:xfrm>
            <a:off x="9661038" y="3469233"/>
            <a:ext cx="182880" cy="18288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19104" y="358902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吸烟</a:t>
            </a:r>
          </a:p>
        </p:txBody>
      </p:sp>
      <p:sp>
        <p:nvSpPr>
          <p:cNvPr id="59" name="Oval 58"/>
          <p:cNvSpPr/>
          <p:nvPr/>
        </p:nvSpPr>
        <p:spPr>
          <a:xfrm>
            <a:off x="8641080" y="4006900"/>
            <a:ext cx="182880" cy="18288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12480" y="434340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饮酒</a:t>
            </a:r>
          </a:p>
        </p:txBody>
      </p:sp>
      <p:sp>
        <p:nvSpPr>
          <p:cNvPr id="61" name="Oval 60"/>
          <p:cNvSpPr/>
          <p:nvPr/>
        </p:nvSpPr>
        <p:spPr>
          <a:xfrm>
            <a:off x="7809591" y="3360420"/>
            <a:ext cx="182880" cy="18288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05855" y="358902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噪音</a:t>
            </a:r>
          </a:p>
        </p:txBody>
      </p:sp>
      <p:sp>
        <p:nvSpPr>
          <p:cNvPr id="63" name="Oval 62"/>
          <p:cNvSpPr/>
          <p:nvPr/>
        </p:nvSpPr>
        <p:spPr>
          <a:xfrm>
            <a:off x="7754159" y="2368296"/>
            <a:ext cx="182880" cy="182880"/>
          </a:xfrm>
          <a:prstGeom prst="ellipse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105855" y="2080260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清洁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0" y="49377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17786"/>
                </a:solidFill>
                <a:latin typeface="Microsoft YaHei"/>
              </a:defRPr>
            </a:pPr>
            <a:r>
              <a:t>▲ DeepSeek 六维匹配雷达图（基于习惯问卷相似度）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7786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4864" cy="50292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83464"/>
            <a:ext cx="9893808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91C1D"/>
                </a:solidFill>
                <a:latin typeface="Microsoft YaHei"/>
              </a:defRPr>
            </a:pPr>
            <a:r>
              <a:t>AI 客服助手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85800"/>
            <a:ext cx="98938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AI Customer Service Chatbot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02920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188720"/>
            <a:ext cx="45720" cy="1463040"/>
          </a:xfrm>
          <a:prstGeom prst="rect">
            <a:avLst/>
          </a:prstGeom>
          <a:solidFill>
            <a:srgbClr val="006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70432"/>
            <a:ext cx="4709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系统角色定位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470916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414755"/>
                </a:solidFill>
                <a:latin typeface="Microsoft YaHei"/>
              </a:defRPr>
            </a:pPr>
            <a:r>
              <a:t>• 充当宿舍管理智能助手，回答学生关于宿舍设施、管理规定、分配流程等问题</a:t>
            </a:r>
          </a:p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414755"/>
                </a:solidFill>
                <a:latin typeface="Microsoft YaHei"/>
              </a:defRPr>
            </a:pPr>
            <a:r>
              <a:t>• 基于学生个人上下文（姓名、专业、年级、宿舍、习惯问卷）提供个性化建议</a:t>
            </a:r>
          </a:p>
          <a:p>
            <a:pPr algn="l">
              <a:lnSpc>
                <a:spcPts val="1800"/>
              </a:lnSpc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414755"/>
                </a:solidFill>
                <a:latin typeface="Microsoft YaHei"/>
              </a:defRPr>
            </a:pPr>
            <a:r>
              <a:t>• 支持宿舍调换政策咨询、报修流程指导、生活习惯适配建议等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5029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063240"/>
            <a:ext cx="45720" cy="2103120"/>
          </a:xfrm>
          <a:prstGeom prst="rect">
            <a:avLst/>
          </a:prstGeom>
          <a:solidFill>
            <a:srgbClr val="006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4709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91C1D"/>
                </a:solidFill>
                <a:latin typeface="Microsoft YaHei"/>
              </a:defRPr>
            </a:pPr>
            <a:r>
              <a:t>技术实现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4709160" cy="1783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ChatController — AJAX 异步请求，JSON 格式响应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AIServiceImpl — 调用 DeepSeek Chat API (deepseek-chat)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HttpSession — 会话级对话历史存储（最多 40 条消息）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参数配置 — max_tokens=2048, temperature=0.7</a:t>
            </a:r>
          </a:p>
          <a:p>
            <a:pPr algn="l">
              <a:lnSpc>
                <a:spcPts val="1650"/>
              </a:lnSpc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前端交互 — 消息气泡、输入中状态指示、一键清空历史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97280"/>
            <a:ext cx="5303520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097280"/>
            <a:ext cx="5303520" cy="411480"/>
          </a:xfrm>
          <a:prstGeom prst="rect">
            <a:avLst/>
          </a:prstGeom>
          <a:solidFill>
            <a:srgbClr val="006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1430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AI 客服对话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73736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ED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10512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677D"/>
                </a:solidFill>
                <a:latin typeface="Microsoft YaHei"/>
              </a:defRPr>
            </a:pPr>
            <a:r>
              <a:t>AI 助手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116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1C1D"/>
                </a:solidFill>
                <a:latin typeface="Microsoft YaHei"/>
              </a:defRPr>
            </a:pPr>
            <a:r>
              <a:t>你好！我是宿舍管理助手，有什么可以帮你？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278892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D8E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2862072"/>
            <a:ext cx="28346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58BC"/>
                </a:solidFill>
                <a:latin typeface="Microsoft YaHei"/>
              </a:defRPr>
            </a:pPr>
            <a:r>
              <a:t>学生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06324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1C1D"/>
                </a:solidFill>
                <a:latin typeface="Microsoft YaHei"/>
              </a:defRPr>
            </a:pPr>
            <a:r>
              <a:t>请问怎么申请调换宿舍？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611880"/>
            <a:ext cx="3840480" cy="1005840"/>
          </a:xfrm>
          <a:prstGeom prst="roundRect">
            <a:avLst>
              <a:gd name="adj" fmla="val 10000"/>
            </a:avLst>
          </a:prstGeom>
          <a:solidFill>
            <a:srgbClr val="ED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685032"/>
            <a:ext cx="3566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677D"/>
                </a:solidFill>
                <a:latin typeface="Microsoft YaHei"/>
              </a:defRPr>
            </a:pPr>
            <a:r>
              <a:t>AI 助手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886200"/>
            <a:ext cx="35661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91C1D"/>
                </a:solidFill>
                <a:latin typeface="Microsoft YaHei"/>
              </a:defRPr>
            </a:pPr>
            <a:r>
              <a:t>你可以在「宿舍调换」页面提交申请，填写调换原因并上传附件，管理员审核后会通知你。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617720"/>
            <a:ext cx="4389120" cy="347472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654296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7786"/>
                </a:solidFill>
                <a:latin typeface="Microsoft YaHei"/>
              </a:defRPr>
            </a:pPr>
            <a:r>
              <a:t>输入消息...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7786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4864" cy="50292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83464"/>
            <a:ext cx="9893808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91C1D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85800"/>
            <a:ext cx="98938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Database Schema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9927" y="960120"/>
            <a:ext cx="32918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68215" y="1051560"/>
            <a:ext cx="45720" cy="105156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807" y="1033272"/>
            <a:ext cx="2971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91C1D"/>
                </a:solidFill>
                <a:latin typeface="Microsoft YaHei"/>
              </a:defRPr>
            </a:pPr>
            <a:r>
              <a:t>用户表 (user)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2807" y="1371600"/>
            <a:ext cx="2971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id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username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password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role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9487" y="2514600"/>
            <a:ext cx="32918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7775" y="2606040"/>
            <a:ext cx="45720" cy="1051560"/>
          </a:xfrm>
          <a:prstGeom prst="rect">
            <a:avLst/>
          </a:prstGeom>
          <a:solidFill>
            <a:srgbClr val="006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367" y="2587752"/>
            <a:ext cx="2971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91C1D"/>
                </a:solidFill>
                <a:latin typeface="Microsoft YaHei"/>
              </a:defRPr>
            </a:pPr>
            <a:r>
              <a:t>学生表 (student)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2367" y="2926080"/>
            <a:ext cx="2971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id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user_id(FK)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name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gender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major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grade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student_id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9927" y="2514600"/>
            <a:ext cx="32918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68215" y="2606040"/>
            <a:ext cx="45720" cy="1051560"/>
          </a:xfrm>
          <a:prstGeom prst="rect">
            <a:avLst/>
          </a:prstGeom>
          <a:solidFill>
            <a:srgbClr val="191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2807" y="2587752"/>
            <a:ext cx="2971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91C1D"/>
                </a:solidFill>
                <a:latin typeface="Microsoft YaHei"/>
              </a:defRPr>
            </a:pPr>
            <a:r>
              <a:t>宿舍表 (dormitory)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807" y="2926080"/>
            <a:ext cx="2971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id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dormitory_number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dormitory_type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capacity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current_occupancy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building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0367" y="2514600"/>
            <a:ext cx="32918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88655" y="2606040"/>
            <a:ext cx="45720" cy="1051560"/>
          </a:xfrm>
          <a:prstGeom prst="rect">
            <a:avLst/>
          </a:prstGeom>
          <a:solidFill>
            <a:srgbClr val="006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3247" y="2587752"/>
            <a:ext cx="2971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91C1D"/>
                </a:solidFill>
                <a:latin typeface="Microsoft YaHei"/>
              </a:defRPr>
            </a:pPr>
            <a:r>
              <a:t>习惯问卷表 (habit_questionnaire)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3247" y="2926080"/>
            <a:ext cx="2971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id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student_id(FK)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sleep_time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wake_up_time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smoking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drinking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noise_tolerance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cleanliness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487" y="4069080"/>
            <a:ext cx="32918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7775" y="4160520"/>
            <a:ext cx="45720" cy="1051560"/>
          </a:xfrm>
          <a:prstGeom prst="rect">
            <a:avLst/>
          </a:prstGeom>
          <a:solidFill>
            <a:srgbClr val="191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2367" y="4142232"/>
            <a:ext cx="2971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91C1D"/>
                </a:solidFill>
                <a:latin typeface="Microsoft YaHei"/>
              </a:defRPr>
            </a:pPr>
            <a:r>
              <a:t>分配表 (dormitory_allocation)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2367" y="4480560"/>
            <a:ext cx="2971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id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student_id(FK)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dormitory_id(FK)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allocate_time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49927" y="4069080"/>
            <a:ext cx="32918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68215" y="4160520"/>
            <a:ext cx="45720" cy="1051560"/>
          </a:xfrm>
          <a:prstGeom prst="rect">
            <a:avLst/>
          </a:prstGeom>
          <a:solidFill>
            <a:srgbClr val="191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2807" y="4142232"/>
            <a:ext cx="2971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91C1D"/>
                </a:solidFill>
                <a:latin typeface="Microsoft YaHei"/>
              </a:defRPr>
            </a:pPr>
            <a:r>
              <a:t>调换表 (dormitory_transfer)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2807" y="4480560"/>
            <a:ext cx="2971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id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student_id(FK)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current_dormitory_id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target_dormitory_id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reason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attachment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0367" y="4069080"/>
            <a:ext cx="329184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88655" y="4160520"/>
            <a:ext cx="45720" cy="1051560"/>
          </a:xfrm>
          <a:prstGeom prst="rect">
            <a:avLst/>
          </a:prstGeom>
          <a:solidFill>
            <a:srgbClr val="191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3247" y="4142232"/>
            <a:ext cx="2971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91C1D"/>
                </a:solidFill>
                <a:latin typeface="Microsoft YaHei"/>
              </a:defRPr>
            </a:pPr>
            <a:r>
              <a:t>报修表 (repair_request)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3247" y="4480560"/>
            <a:ext cx="2971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id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student_id(FK)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dormitory_id(FK)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description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image</a:t>
            </a:r>
          </a:p>
          <a:p>
            <a:pPr algn="l">
              <a:lnSpc>
                <a:spcPts val="1350"/>
              </a:lnSpc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414755"/>
                </a:solidFill>
                <a:latin typeface="Microsoft YaHei"/>
              </a:defRPr>
            </a:pPr>
            <a:r>
              <a:t>status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575407.5" y="2194560"/>
            <a:ext cx="3520440.0" cy="320040"/>
          </a:xfrm>
          <a:prstGeom prst="line">
            <a:avLst/>
          </a:prstGeom>
          <a:ln w="19050">
            <a:solidFill>
              <a:srgbClr val="C1C6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14755"/>
                </a:solidFill>
                <a:latin typeface="Microsoft YaHei"/>
              </a:defRPr>
            </a:pPr>
            <a:r>
              <a:t>数据库：MySQL 8.0  |  连接池：Druid 1.2.22  |  ORM：MyBatis 3.5.16  |  共 7 张业务表，完整外键约束与索引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7786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20040"/>
            <a:ext cx="54864" cy="50292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283464"/>
            <a:ext cx="9893808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91C1D"/>
                </a:solidFill>
                <a:latin typeface="Microsoft YaHei"/>
              </a:defRPr>
            </a:pPr>
            <a:r>
              <a:t>项目亮点与总结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685800"/>
            <a:ext cx="9893808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14755"/>
                </a:solidFill>
                <a:latin typeface="Microsoft YaHei"/>
              </a:defRPr>
            </a:pPr>
            <a:r>
              <a:t>Highlights &amp;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21208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143000"/>
            <a:ext cx="45720" cy="196596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24712"/>
            <a:ext cx="4892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91C1D"/>
                </a:solidFill>
                <a:latin typeface="Microsoft YaHei"/>
              </a:defRPr>
            </a:pPr>
            <a:r>
              <a:t>AI 赋能管理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4892040" cy="164592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74920" y="11887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C1C6D7"/>
                </a:solidFill>
                <a:latin typeface="Inter"/>
              </a:defRPr>
            </a:pPr>
            <a:r>
              <a:t>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489204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14755"/>
                </a:solidFill>
                <a:latin typeface="Microsoft YaHei"/>
              </a:defRPr>
            </a:pPr>
            <a:r>
              <a:t>集成 DeepSeek 大模型，实现</a:t>
            </a:r>
          </a:p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14755"/>
                </a:solidFill>
                <a:latin typeface="Microsoft YaHei"/>
              </a:defRPr>
            </a:pPr>
            <a:r>
              <a:t>智能宿舍推荐与 24×7 在线客服</a:t>
            </a:r>
          </a:p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14755"/>
                </a:solidFill>
                <a:latin typeface="Microsoft YaHei"/>
              </a:defRPr>
            </a:pPr>
            <a:r>
              <a:t>大幅提升管理效率与用户体验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051560"/>
            <a:ext cx="521208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9048" y="1143000"/>
            <a:ext cx="45720" cy="1965960"/>
          </a:xfrm>
          <a:prstGeom prst="rect">
            <a:avLst/>
          </a:prstGeom>
          <a:solidFill>
            <a:srgbClr val="006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124712"/>
            <a:ext cx="4892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91C1D"/>
                </a:solidFill>
                <a:latin typeface="Microsoft YaHei"/>
              </a:defRPr>
            </a:pPr>
            <a:r>
              <a:t>数据驱动决策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463040"/>
            <a:ext cx="4892040" cy="164592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0" y="11887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C1C6D7"/>
                </a:solidFill>
                <a:latin typeface="Inter"/>
              </a:defRPr>
            </a:pPr>
            <a:r>
              <a:t>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600200"/>
            <a:ext cx="489204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14755"/>
                </a:solidFill>
                <a:latin typeface="Microsoft YaHei"/>
              </a:defRPr>
            </a:pPr>
            <a:r>
              <a:t>ECharts 雷达图六维可视化</a:t>
            </a:r>
          </a:p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14755"/>
                </a:solidFill>
                <a:latin typeface="Microsoft YaHei"/>
              </a:defRPr>
            </a:pPr>
            <a:r>
              <a:t>基于生活习惯问卷的科学匹配</a:t>
            </a:r>
          </a:p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14755"/>
                </a:solidFill>
                <a:latin typeface="Microsoft YaHei"/>
              </a:defRPr>
            </a:pPr>
            <a:r>
              <a:t>为宿舍分配提供量化依据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521208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520440"/>
            <a:ext cx="45720" cy="1965960"/>
          </a:xfrm>
          <a:prstGeom prst="rect">
            <a:avLst/>
          </a:prstGeom>
          <a:solidFill>
            <a:srgbClr val="005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02152"/>
            <a:ext cx="4892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91C1D"/>
                </a:solidFill>
                <a:latin typeface="Microsoft YaHei"/>
              </a:defRPr>
            </a:pPr>
            <a:r>
              <a:t>全流程闭环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40480"/>
            <a:ext cx="4892040" cy="164592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074920" y="35661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C1C6D7"/>
                </a:solidFill>
                <a:latin typeface="Inter"/>
              </a:defRPr>
            </a:pPr>
            <a:r>
              <a:t>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77640"/>
            <a:ext cx="489204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14755"/>
                </a:solidFill>
                <a:latin typeface="Microsoft YaHei"/>
              </a:defRPr>
            </a:pPr>
            <a:r>
              <a:t>覆盖入住分配 → 调换审批 → 报修处理</a:t>
            </a:r>
          </a:p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14755"/>
                </a:solidFill>
                <a:latin typeface="Microsoft YaHei"/>
              </a:defRPr>
            </a:pPr>
            <a:r>
              <a:t>全业务流程，状态流转清晰</a:t>
            </a:r>
          </a:p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14755"/>
                </a:solidFill>
                <a:latin typeface="Microsoft YaHei"/>
              </a:defRPr>
            </a:pPr>
            <a:r>
              <a:t>支持文件附件与图片上传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429000"/>
            <a:ext cx="521208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1C6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9048" y="3520440"/>
            <a:ext cx="45720" cy="1965960"/>
          </a:xfrm>
          <a:prstGeom prst="rect">
            <a:avLst/>
          </a:prstGeom>
          <a:solidFill>
            <a:srgbClr val="006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502152"/>
            <a:ext cx="48920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91C1D"/>
                </a:solidFill>
                <a:latin typeface="Microsoft YaHei"/>
              </a:defRPr>
            </a:pPr>
            <a:r>
              <a:t>现代技术栈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840480"/>
            <a:ext cx="4892040" cy="1645920"/>
          </a:xfrm>
          <a:prstGeom prst="rect">
            <a:avLst/>
          </a:prstGeom>
          <a:noFill/>
        </p:spPr>
        <p:txBody>
          <a:bodyPr wrap="square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515600" y="35661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rgbClr val="C1C6D7"/>
                </a:solidFill>
                <a:latin typeface="Inter"/>
              </a:defRPr>
            </a:pPr>
            <a:r>
              <a:t>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977640"/>
            <a:ext cx="4892040" cy="1508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14755"/>
                </a:solidFill>
                <a:latin typeface="Microsoft YaHei"/>
              </a:defRPr>
            </a:pPr>
            <a:r>
              <a:t>Java 21 + Spring 6 + MyBatis</a:t>
            </a:r>
          </a:p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14755"/>
                </a:solidFill>
                <a:latin typeface="Microsoft YaHei"/>
              </a:defRPr>
            </a:pPr>
            <a:r>
              <a:t>MD3 设计语言 + Tailwind CSS</a:t>
            </a:r>
          </a:p>
          <a:p>
            <a:pPr algn="l">
              <a:lnSpc>
                <a:spcPts val="1950"/>
              </a:lnSpc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414755"/>
                </a:solidFill>
                <a:latin typeface="Microsoft YaHei"/>
              </a:defRPr>
            </a:pPr>
            <a:r>
              <a:t>Maven 构建 + Tomcat 容器化部署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5623560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Java 21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87752" y="5623560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Spring 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22776" y="562356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Spring MVC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95544" y="5623560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MyBatis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11696" y="5623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MySQL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90104" y="56235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Druid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68512" y="562356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JSP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09176" y="5623560"/>
            <a:ext cx="1901952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Tailwind CSS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71600" y="5943600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ECharts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87752" y="5943600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DeepSeek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22776" y="5943600"/>
            <a:ext cx="2542032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Apache HttpClient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27648" y="5943600"/>
            <a:ext cx="1389888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FastJSON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62672" y="59436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Maven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41080" y="5943600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Tomcat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60" y="59436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7177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Log4j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14755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17786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